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AllowED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457200" y="2560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VA Certification. Simplified.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&amp; Vision Document —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2,500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914400" y="256032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 requests per semester. One spreadsheet. Zero automation.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40A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5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Current Workflow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457200" cy="457200"/>
          </a:xfrm>
          <a:prstGeom prst="ellipse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6400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709928" y="1188720"/>
            <a:ext cx="457200" cy="457200"/>
          </a:xfrm>
          <a:prstGeom prst="ellipse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709928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618488" y="1737360"/>
            <a:ext cx="6400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 runs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871216" y="1188720"/>
            <a:ext cx="457200" cy="457200"/>
          </a:xfrm>
          <a:prstGeom prst="ellipse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71216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779776" y="1737360"/>
            <a:ext cx="6400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to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Sheet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032504" y="1188720"/>
            <a:ext cx="457200" cy="457200"/>
          </a:xfrm>
          <a:prstGeom prst="ellipse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32504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941064" y="1737360"/>
            <a:ext cx="6400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Work-study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preps (stale)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193792" y="1188720"/>
            <a:ext cx="457200" cy="457200"/>
          </a:xfrm>
          <a:prstGeom prst="ellipse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93792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102352" y="1737360"/>
            <a:ext cx="6400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PeopleSoft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EM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355080" y="1188720"/>
            <a:ext cx="457200" cy="457200"/>
          </a:xfrm>
          <a:prstGeom prst="ellipse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55080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263640" y="1737360"/>
            <a:ext cx="6400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units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516368" y="1188720"/>
            <a:ext cx="457200" cy="457200"/>
          </a:xfrm>
          <a:prstGeom prst="ellipse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516368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424928" y="1737360"/>
            <a:ext cx="6400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2926080"/>
            <a:ext cx="8229600" cy="7315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29260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20/day. Reality: rarely achieved.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57200" y="38404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text dark on light background. </a:t>
            </a:r>
            <a:pPr algn="l" indent="0" marL="0">
              <a:buNone/>
            </a:pPr>
            <a:r>
              <a:rPr lang="en-US" sz="14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workflows are error-prone and slow.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Spreadsheet Really Does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256032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1E40A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85800" y="123444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Assignment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Tracking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85800" y="192024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daily requests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91840" y="1097280"/>
            <a:ext cx="256032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1E40A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429000" y="123444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Certification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Status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429000" y="192024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as processed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35040" y="1097280"/>
            <a:ext cx="256032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1E40A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172200" y="123444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Safety Alerts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172200" y="192024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Ch.33 exhaustion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2004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spreadsheet doing three jobs. Manual color-coding. No automation.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0080" y="37033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Ch.33 exhaustion warnings are a SAFETY function — currently tracked by eye.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40A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OPPORTUNITY</a:t>
            </a:r>
            <a:endParaRPr lang="en-US" sz="5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Market Numbers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40A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5,000+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201168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VA-Certifying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383280" y="128016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40A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1.5M+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3383280" y="201168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Year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126480" y="128016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40A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$564M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6126480" y="201168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 Processed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(DGB, Month 1)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31089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 is automating THEIR side (50-62%). Universities are still 100% manual.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229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one is doing this.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548640" y="1874520"/>
            <a:ext cx="274320" cy="27432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4" name="Text 2"/>
          <p:cNvSpPr/>
          <p:nvPr/>
        </p:nvSpPr>
        <p:spPr>
          <a:xfrm>
            <a:off x="1005840" y="18745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PeopleSoft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926080" y="1874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storage, not automation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560320"/>
            <a:ext cx="274320" cy="27432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25603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 Manager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926080" y="25603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VA's tool, not the university's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246120"/>
            <a:ext cx="274320" cy="27432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32461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RPA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926080" y="32461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Doesn't understand VA rules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931920"/>
            <a:ext cx="274320" cy="27432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39319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Aid Tools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926080" y="3931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domain entirely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4480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mover advantage in a category that doesn't exist yet.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40A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463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ALLOWED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22860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AllowED Does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39319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40A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AI workstation that replaces the entire SCO workflow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0" y="1078992"/>
            <a:ext cx="182880" cy="18288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5" name="Text 3"/>
          <p:cNvSpPr/>
          <p:nvPr/>
        </p:nvSpPr>
        <p:spPr>
          <a:xfrm>
            <a:off x="4937760" y="10058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Auto-pulls fresh enrollment + degree eval (no stale data)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0" y="1517904"/>
            <a:ext cx="182880" cy="18288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7" name="Text 5"/>
          <p:cNvSpPr/>
          <p:nvPr/>
        </p:nvSpPr>
        <p:spPr>
          <a:xfrm>
            <a:off x="4937760" y="1444752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 evaluates every course against VA rules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0" y="1956816"/>
            <a:ext cx="182880" cy="18288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9" name="Text 7"/>
          <p:cNvSpPr/>
          <p:nvPr/>
        </p:nvSpPr>
        <p:spPr>
          <a:xfrm>
            <a:off x="4937760" y="1883664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students batch-certify. Exceptions surface for SCO.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0" y="2395728"/>
            <a:ext cx="182880" cy="18288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2322576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click to approve and submit. Done.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0" y="4480560"/>
            <a:ext cx="9144000" cy="6400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44805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AllowED assists. The SCO decides.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AllowED Workflow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914400" y="1371600"/>
            <a:ext cx="548640" cy="5486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205740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0" y="1371600"/>
            <a:ext cx="548640" cy="548640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0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2560320" y="205740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auto-evaluates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0" y="1371600"/>
            <a:ext cx="548640" cy="54864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0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389120" y="205740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 reviews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0" y="1371600"/>
            <a:ext cx="548640" cy="5486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0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217920" y="205740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Certified &amp;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108960"/>
            <a:ext cx="822960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1E40A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31520" y="324612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steps → 4. </a:t>
            </a:r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copy → automated. </a:t>
            </a:r>
            <a:pPr algn="l" indent="0" marL="0">
              <a:buNone/>
            </a:pPr>
            <a:r>
              <a:rPr lang="en-US" sz="14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Stale data → real-time.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Interfaces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73152" cy="182880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097280"/>
            <a:ext cx="25603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1E40A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28016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SCO Workstation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192024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Queue, certify, benefit alerts, PO tracking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91840" y="1097280"/>
            <a:ext cx="73152" cy="18288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Shape 6"/>
          <p:cNvSpPr/>
          <p:nvPr/>
        </p:nvSpPr>
        <p:spPr>
          <a:xfrm>
            <a:off x="3291840" y="1097280"/>
            <a:ext cx="25603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1E40A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29000" y="128016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 Status Page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429000" y="192024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"Where's my GI Bill?" answered instantly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35040" y="1097280"/>
            <a:ext cx="73152" cy="18288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2" name="Shape 10"/>
          <p:cNvSpPr/>
          <p:nvPr/>
        </p:nvSpPr>
        <p:spPr>
          <a:xfrm>
            <a:off x="6035040" y="1097280"/>
            <a:ext cx="25603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1E40A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172200" y="128016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Admin Dashboard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172200" y="192024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Volume, performance, audit compliance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200+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checks. All passing.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2560320"/>
            <a:ext cx="1097280" cy="731520"/>
          </a:xfrm>
          <a:prstGeom prst="rect">
            <a:avLst/>
          </a:prstGeom>
          <a:solidFill>
            <a:srgbClr val="1E40A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2606040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</a:t>
            </a:r>
            <a:endParaRPr lang="en-US" sz="9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63/63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417320" y="2423160"/>
            <a:ext cx="320040" cy="3200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7" name="Text 5"/>
          <p:cNvSpPr/>
          <p:nvPr/>
        </p:nvSpPr>
        <p:spPr>
          <a:xfrm>
            <a:off x="1417320" y="24231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1664208" y="2560320"/>
            <a:ext cx="1097280" cy="731520"/>
          </a:xfrm>
          <a:prstGeom prst="rect">
            <a:avLst/>
          </a:prstGeom>
          <a:solidFill>
            <a:srgbClr val="1E40A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709928" y="2606040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WEAMS Matching</a:t>
            </a:r>
            <a:endParaRPr lang="en-US" sz="9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853 programs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624328" y="2423160"/>
            <a:ext cx="320040" cy="3200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2624328" y="24231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2871216" y="2560320"/>
            <a:ext cx="1097280" cy="731520"/>
          </a:xfrm>
          <a:prstGeom prst="rect">
            <a:avLst/>
          </a:prstGeom>
          <a:solidFill>
            <a:srgbClr val="1E40A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916936" y="2606040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Integration</a:t>
            </a:r>
            <a:endParaRPr lang="en-US" sz="9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31/31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831336" y="2423160"/>
            <a:ext cx="320040" cy="3200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3831336" y="24231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4078224" y="2560320"/>
            <a:ext cx="1097280" cy="731520"/>
          </a:xfrm>
          <a:prstGeom prst="rect">
            <a:avLst/>
          </a:prstGeom>
          <a:solidFill>
            <a:srgbClr val="1E40A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123944" y="2606040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 Monitor</a:t>
            </a:r>
            <a:endParaRPr lang="en-US" sz="9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90/90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038344" y="2423160"/>
            <a:ext cx="320040" cy="3200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9" name="Text 17"/>
          <p:cNvSpPr/>
          <p:nvPr/>
        </p:nvSpPr>
        <p:spPr>
          <a:xfrm>
            <a:off x="5038344" y="24231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457200" y="3657600"/>
            <a:ext cx="1097280" cy="731520"/>
          </a:xfrm>
          <a:prstGeom prst="rect">
            <a:avLst/>
          </a:prstGeom>
          <a:solidFill>
            <a:srgbClr val="1E40A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02920" y="3703320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T&amp;F Certification</a:t>
            </a:r>
            <a:endParaRPr lang="en-US" sz="9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21/21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1417320" y="3520440"/>
            <a:ext cx="320040" cy="3200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3" name="Text 21"/>
          <p:cNvSpPr/>
          <p:nvPr/>
        </p:nvSpPr>
        <p:spPr>
          <a:xfrm>
            <a:off x="1417320" y="35204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1664208" y="3657600"/>
            <a:ext cx="1097280" cy="731520"/>
          </a:xfrm>
          <a:prstGeom prst="rect">
            <a:avLst/>
          </a:prstGeom>
          <a:solidFill>
            <a:srgbClr val="1E40A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1709928" y="3703320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Rounding Out</a:t>
            </a:r>
            <a:endParaRPr lang="en-US" sz="9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4/4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624328" y="3520440"/>
            <a:ext cx="320040" cy="3200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7" name="Text 25"/>
          <p:cNvSpPr/>
          <p:nvPr/>
        </p:nvSpPr>
        <p:spPr>
          <a:xfrm>
            <a:off x="2624328" y="35204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2871216" y="3657600"/>
            <a:ext cx="1097280" cy="731520"/>
          </a:xfrm>
          <a:prstGeom prst="rect">
            <a:avLst/>
          </a:prstGeom>
          <a:solidFill>
            <a:srgbClr val="1E40A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2916936" y="3703320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Orchestrator</a:t>
            </a:r>
            <a:endParaRPr lang="en-US" sz="9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6/6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831336" y="3520440"/>
            <a:ext cx="320040" cy="3200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1" name="Text 29"/>
          <p:cNvSpPr/>
          <p:nvPr/>
        </p:nvSpPr>
        <p:spPr>
          <a:xfrm>
            <a:off x="3831336" y="35204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PLAYBOOK</a:t>
            </a:r>
            <a:endParaRPr lang="en-US" sz="5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Category Creators Win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201168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F9731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2344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40A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Veeva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6002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Niche compliance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pharma market share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651760" y="1097280"/>
            <a:ext cx="201168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F9731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743200" y="12344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40A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Palantir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0" y="16002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with the customer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743200" y="20116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$20B government platform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097280"/>
            <a:ext cx="201168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F9731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46320" y="12344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40A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TurboTax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46320" y="16002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the complex effortless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46320" y="20116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 tax filing share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858000" y="1097280"/>
            <a:ext cx="201168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F9731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949440" y="12344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40A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Stripe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949440" y="16002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Developer-first wedge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949440" y="20116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$95B payments standard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3017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AllowED follows the playbook: own the niche, prove it works, become the standard.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Go-to-Market: Phase by Phase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828800" cy="594360"/>
          </a:xfrm>
          <a:prstGeom prst="rect">
            <a:avLst/>
          </a:prstGeom>
          <a:solidFill>
            <a:srgbClr val="1E40A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118872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468880" y="1188720"/>
            <a:ext cx="6217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CSU System — SDSU + CSUN pilot, expand to 23 campuses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874520"/>
            <a:ext cx="1828800" cy="594360"/>
          </a:xfrm>
          <a:prstGeom prst="rect">
            <a:avLst/>
          </a:prstGeom>
          <a:solidFill>
            <a:srgbClr val="10B981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87452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2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468880" y="1874520"/>
            <a:ext cx="6217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Veteran Schools — ASU (8,900 GI Bill), Texas A&amp;M, UMGC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560320"/>
            <a:ext cx="1828800" cy="594360"/>
          </a:xfrm>
          <a:prstGeom prst="rect">
            <a:avLst/>
          </a:prstGeom>
          <a:solidFill>
            <a:srgbClr val="F97316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" y="256032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3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468880" y="2560320"/>
            <a:ext cx="6217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Colleges — Understaffed, high need, 1000+ campuses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246120"/>
            <a:ext cx="1828800" cy="59436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" y="324612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4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468880" y="3246120"/>
            <a:ext cx="6217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Standard — Banner + Workday SIS. Every VA-certifying school.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Sales Channels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4023360" cy="45720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058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Conferences &amp; Community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NAVPA Annual Conference (Dallas 2026, 400+ institutions)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NASPA (2,000+ higher-ed leaders)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25603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NASPA Military-Connected Students Symposium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1005840"/>
            <a:ext cx="4023360" cy="4572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10058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Grants &amp; Government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46320" y="16459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 SBIR/STTR ($150K-$1.5M R&amp;D grants)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46320" y="21031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CEVSS (Dept of Education, $500K+ for veteran student tech)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46320" y="25603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 OIT Industry Day (March 2026)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46320" y="30175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CSU System-level procurement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Now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320040" cy="32004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515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100584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 staffing cuts (1,000+ in 2026) degrading approval speed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320040" cy="32004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5544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150876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GI Bill modernization creating expectation of speed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057400"/>
            <a:ext cx="320040" cy="32004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0574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4400" y="201168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competitor in the space — category is empty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560320"/>
            <a:ext cx="320040" cy="32004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5603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14400" y="25146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waiting MONTHS for GI Bill payments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063240"/>
            <a:ext cx="320040" cy="32004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0632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14400" y="301752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CSU deployed ChatGPT Edu system-wide — open to EdTech innovation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4480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between VA automation and university automation is growing every day.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Compliance Built In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4023360" cy="45720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058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Safety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HITL escalation (7 triggers)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2057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cert without SCO approval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Full audit trail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8803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Census-date-aware logic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1005840"/>
            <a:ext cx="4023360" cy="4572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4663440" y="10058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Compliance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46320" y="16459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VA Handbook rules in code (38 CFR Part 21)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46320" y="2057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Dual certification model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46320" y="24688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Section 508 accessible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46320" y="28803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FERPA-ready architecture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0" y="4480560"/>
            <a:ext cx="9144000" cy="6400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44805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by an SCO. Validated against 200+ real-world checks.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PAULINA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1508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Teacher. VA Compliance Consultant. SCO. Academic Advisor. Founder.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228600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Certifies 2,500 students/semester at SDSU. Built AllowED from the real workflow — not from imagination.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paulina0101@gmail.com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E40A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Ask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2560320" cy="2286000"/>
          </a:xfrm>
          <a:prstGeom prst="rect">
            <a:avLst/>
          </a:prstGeom>
          <a:solidFill>
            <a:srgbClr val="FFFFFF"/>
          </a:solidFill>
          <a:ln w="25400">
            <a:solidFill>
              <a:srgbClr val="F9731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85800" y="128016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Pilot Partners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85800" y="201168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SDSU + CSUN, Fall 2026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91840" y="1097280"/>
            <a:ext cx="2560320" cy="2286000"/>
          </a:xfrm>
          <a:prstGeom prst="rect">
            <a:avLst/>
          </a:prstGeom>
          <a:solidFill>
            <a:srgbClr val="FFFFFF"/>
          </a:solidFill>
          <a:ln w="25400">
            <a:solidFill>
              <a:srgbClr val="F9731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429000" y="128016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Strategic Investment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429000" y="201168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to all 23 CSU campuses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035040" y="1097280"/>
            <a:ext cx="2560320" cy="2286000"/>
          </a:xfrm>
          <a:prstGeom prst="rect">
            <a:avLst/>
          </a:prstGeom>
          <a:solidFill>
            <a:srgbClr val="FFFFFF"/>
          </a:solidFill>
          <a:ln w="25400">
            <a:solidFill>
              <a:srgbClr val="F9731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172200" y="128016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 Partnership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172200" y="201168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OIT Industry Day, SBIR/STTR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3840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didn't imagine the workflow. We automated the real one.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801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AllowED</a:t>
            </a:r>
            <a:endParaRPr lang="en-US" sz="6800" dirty="0"/>
          </a:p>
        </p:txBody>
      </p:sp>
      <p:sp>
        <p:nvSpPr>
          <p:cNvPr id="3" name="Text 1"/>
          <p:cNvSpPr/>
          <p:nvPr/>
        </p:nvSpPr>
        <p:spPr>
          <a:xfrm>
            <a:off x="457200" y="2377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Allowing education to flow.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paulina0101@gmail.com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AllowED Strategy Presentation</dc:title>
  <dc:subject>PptxGenJS Presentation</dc:subject>
  <dc:creator>Paulina</dc:creator>
  <cp:lastModifiedBy>Paulina</cp:lastModifiedBy>
  <cp:revision>1</cp:revision>
  <dcterms:created xsi:type="dcterms:W3CDTF">2026-04-13T04:56:43Z</dcterms:created>
  <dcterms:modified xsi:type="dcterms:W3CDTF">2026-04-13T04:56:43Z</dcterms:modified>
</cp:coreProperties>
</file>